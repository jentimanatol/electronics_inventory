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2.jpg" ContentType="image/jpg"/>
  <Override PartName="/ppt/media/image-1-3.jpg" ContentType="image/jpg"/>
  <Override PartName="/ppt/media/image-1-4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4297680"/>
          </a:xfrm>
          <a:prstGeom prst="rect">
            <a:avLst/>
          </a:prstGeom>
          <a:solidFill>
            <a:srgbClr val="0B152A"/>
          </a:solidFill>
          <a:ln w="12700">
            <a:solidFill>
              <a:srgbClr val="12203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31520" y="4160520"/>
            <a:ext cx="42428160" cy="0"/>
          </a:xfrm>
          <a:prstGeom prst="line">
            <a:avLst/>
          </a:prstGeom>
          <a:noFill/>
          <a:ln w="12700">
            <a:solidFill>
              <a:srgbClr val="74829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411480"/>
            <a:ext cx="3063240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AFD"/>
                </a:solidFill>
              </a:rPr>
              <a:t>General Inventory AI Assistant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3090672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D0D9E8"/>
                </a:solidFill>
              </a:rPr>
              <a:t>A private, retrieval-grounded inventory web app that lets users ask natural-language questions about real stored items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320040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B9C7DB"/>
                </a:solidFill>
              </a:rPr>
              <a:t>Anatolie Jentimir  |  Bunker Hill Community College  |  Computer Science / AI Project  |  GitHub: jentimanatol/electronics_inventory</a:t>
            </a:r>
            <a:endParaRPr lang="en-US" sz="1460" dirty="0"/>
          </a:p>
        </p:txBody>
      </p:sp>
      <p:sp>
        <p:nvSpPr>
          <p:cNvPr id="7" name="Shape 5"/>
          <p:cNvSpPr/>
          <p:nvPr/>
        </p:nvSpPr>
        <p:spPr>
          <a:xfrm>
            <a:off x="914400" y="2852928"/>
            <a:ext cx="3136392" cy="438912"/>
          </a:xfrm>
          <a:prstGeom prst="rect">
            <a:avLst/>
          </a:prstGeom>
          <a:solidFill>
            <a:srgbClr val="0F182B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87552" y="2935224"/>
            <a:ext cx="299008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AFD"/>
                </a:solidFill>
              </a:rPr>
              <a:t>Private SQLite data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4215384" y="2852928"/>
            <a:ext cx="3200400" cy="438912"/>
          </a:xfrm>
          <a:prstGeom prst="rect">
            <a:avLst/>
          </a:prstGeom>
          <a:solidFill>
            <a:srgbClr val="0F182B"/>
          </a:solidFill>
          <a:ln w="12700">
            <a:solidFill>
              <a:srgbClr val="25B7B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288536" y="2935224"/>
            <a:ext cx="30540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AFD"/>
                </a:solidFill>
              </a:rPr>
              <a:t>No paid external API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580376" y="2852928"/>
            <a:ext cx="3072384" cy="438912"/>
          </a:xfrm>
          <a:prstGeom prst="rect">
            <a:avLst/>
          </a:prstGeom>
          <a:solidFill>
            <a:srgbClr val="0F182B"/>
          </a:solidFill>
          <a:ln w="12700">
            <a:solidFill>
              <a:srgbClr val="6C63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653528" y="2935224"/>
            <a:ext cx="29260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AFD"/>
                </a:solidFill>
              </a:rPr>
              <a:t>Railway deployment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10817352" y="2852928"/>
            <a:ext cx="3584448" cy="438912"/>
          </a:xfrm>
          <a:prstGeom prst="rect">
            <a:avLst/>
          </a:prstGeom>
          <a:solidFill>
            <a:srgbClr val="0F182B"/>
          </a:solidFill>
          <a:ln w="1270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890504" y="2935224"/>
            <a:ext cx="3438144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AFD"/>
                </a:solidFill>
              </a:rPr>
              <a:t>Optional decoder prototype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914400" y="4572000"/>
            <a:ext cx="13716000" cy="4206240"/>
          </a:xfrm>
          <a:prstGeom prst="rect">
            <a:avLst/>
          </a:prstGeom>
          <a:solidFill>
            <a:srgbClr val="10192A"/>
          </a:solidFill>
          <a:ln w="12700">
            <a:solidFill>
              <a:srgbClr val="34415A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914400" y="4572000"/>
            <a:ext cx="13716000" cy="76809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078992" y="4645152"/>
            <a:ext cx="13386816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7FAFD"/>
                </a:solidFill>
              </a:rPr>
              <a:t>ABSTRACT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1152144" y="5504688"/>
            <a:ext cx="13240512" cy="3163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D0D9E8"/>
                </a:solidFill>
              </a:rPr>
              <a:t>General Inventory AI Assistant addresses a common real-world problem: many items are spread across drawers, shelves, boxes, and project kits, but standard inventory search only works if the user remembers exact names. This project adds a lightweight AI assistant to a deployed inventory site so the user can ask direct questions and receive answers grounded in private SQLite records.</a:t>
            </a:r>
            <a:endParaRPr lang="en-US" sz="1810" dirty="0"/>
          </a:p>
        </p:txBody>
      </p:sp>
      <p:sp>
        <p:nvSpPr>
          <p:cNvPr id="20" name="Shape 17"/>
          <p:cNvSpPr/>
          <p:nvPr/>
        </p:nvSpPr>
        <p:spPr>
          <a:xfrm>
            <a:off x="914400" y="9098280"/>
            <a:ext cx="13716000" cy="5486400"/>
          </a:xfrm>
          <a:prstGeom prst="rect">
            <a:avLst/>
          </a:prstGeom>
          <a:solidFill>
            <a:srgbClr val="10192A"/>
          </a:solidFill>
          <a:ln w="12700">
            <a:solidFill>
              <a:srgbClr val="34415A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914400" y="9098280"/>
            <a:ext cx="13716000" cy="768096"/>
          </a:xfrm>
          <a:prstGeom prst="rect">
            <a:avLst/>
          </a:prstGeom>
          <a:solidFill>
            <a:srgbClr val="25B7B2"/>
          </a:solidFill>
          <a:ln w="12700">
            <a:solidFill>
              <a:srgbClr val="25B7B2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078992" y="9171432"/>
            <a:ext cx="13386816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7FAFD"/>
                </a:solidFill>
              </a:rPr>
              <a:t>MOTIVATION &amp; PROBLEM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1152144" y="10030968"/>
            <a:ext cx="13240512" cy="4443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D0D9E8"/>
                </a:solidFill>
              </a:rPr>
              <a:t>• Manual search becomes slow when collections grow.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D0D9E8"/>
                </a:solidFill>
              </a:rPr>
              <a:t>• Users naturally ask for items in plain language, not database syntax.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D0D9E8"/>
                </a:solidFill>
              </a:rPr>
              <a:t>• Inventory data may contain private prices, notes, locations, and photos.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D0D9E8"/>
                </a:solidFill>
              </a:rPr>
              <a:t>• A useful AI system must be accurate, explainable, and cheap enough to deploy under realistic hosting limits.</a:t>
            </a:r>
            <a:endParaRPr lang="en-US" sz="1810" dirty="0"/>
          </a:p>
        </p:txBody>
      </p:sp>
      <p:sp>
        <p:nvSpPr>
          <p:cNvPr id="24" name="Shape 21"/>
          <p:cNvSpPr/>
          <p:nvPr/>
        </p:nvSpPr>
        <p:spPr>
          <a:xfrm>
            <a:off x="914400" y="14904720"/>
            <a:ext cx="13716000" cy="6126480"/>
          </a:xfrm>
          <a:prstGeom prst="rect">
            <a:avLst/>
          </a:prstGeom>
          <a:solidFill>
            <a:srgbClr val="10192A"/>
          </a:solidFill>
          <a:ln w="12700">
            <a:solidFill>
              <a:srgbClr val="34415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14400" y="14904720"/>
            <a:ext cx="13716000" cy="768096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78992" y="14977872"/>
            <a:ext cx="13386816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7FAFD"/>
                </a:solidFill>
              </a:rPr>
              <a:t>INVENTORY FUNCTIONS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1152144" y="15837408"/>
            <a:ext cx="13240512" cy="5084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D0D9E8"/>
                </a:solidFill>
              </a:rPr>
              <a:t>The app is more than a chatbot. It supports everyday inventory work: add/edit/delete items, upload item photos, generate QR labels, scan QR codes, search by fields, organize mixed categories, back up or restore the database, estimate total value using quantity × unit price, warn about low stock, and detect duplicates.</a:t>
            </a:r>
            <a:endParaRPr lang="en-US" sz="1810" dirty="0"/>
          </a:p>
        </p:txBody>
      </p:sp>
      <p:sp>
        <p:nvSpPr>
          <p:cNvPr id="28" name="Shape 25"/>
          <p:cNvSpPr/>
          <p:nvPr/>
        </p:nvSpPr>
        <p:spPr>
          <a:xfrm>
            <a:off x="914400" y="21351240"/>
            <a:ext cx="13716000" cy="9418320"/>
          </a:xfrm>
          <a:prstGeom prst="rect">
            <a:avLst/>
          </a:prstGeom>
          <a:solidFill>
            <a:srgbClr val="10192A"/>
          </a:solidFill>
          <a:ln w="12700">
            <a:solidFill>
              <a:srgbClr val="34415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14400" y="21351240"/>
            <a:ext cx="13716000" cy="76809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1078992" y="21424392"/>
            <a:ext cx="13386816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7FAFD"/>
                </a:solidFill>
              </a:rPr>
              <a:t>KEY CONTRIBUTIONS</a:t>
            </a:r>
            <a:endParaRPr lang="en-US" sz="2100" dirty="0"/>
          </a:p>
        </p:txBody>
      </p:sp>
      <p:sp>
        <p:nvSpPr>
          <p:cNvPr id="31" name="Text 28"/>
          <p:cNvSpPr/>
          <p:nvPr/>
        </p:nvSpPr>
        <p:spPr>
          <a:xfrm>
            <a:off x="1152144" y="22283928"/>
            <a:ext cx="13240512" cy="8375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D0D9E8"/>
                </a:solidFill>
              </a:rPr>
              <a:t>1. A grounded assistant that answers from retrieved rows instead of inventing records.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D0D9E8"/>
                </a:solidFill>
              </a:rPr>
              <a:t>2. A compact local intent classifier for commands such as show all, categories, restock, duplicates, and value.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D0D9E8"/>
                </a:solidFill>
              </a:rPr>
              <a:t>3. Singular/plural normalization so natural phrases like resistor/resistors still work.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D0D9E8"/>
                </a:solidFill>
              </a:rPr>
              <a:t>4. A practical deployment strategy that stays stable on CPU-only Railway hosting.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D0D9E8"/>
                </a:solidFill>
              </a:rPr>
              <a:t>5. Optional course evidence through an offline GPT-style decoder prototype without making production heavy.</a:t>
            </a:r>
            <a:endParaRPr lang="en-US" sz="1810" dirty="0"/>
          </a:p>
        </p:txBody>
      </p:sp>
      <p:sp>
        <p:nvSpPr>
          <p:cNvPr id="32" name="Shape 29"/>
          <p:cNvSpPr/>
          <p:nvPr/>
        </p:nvSpPr>
        <p:spPr>
          <a:xfrm>
            <a:off x="14813280" y="4572000"/>
            <a:ext cx="13716000" cy="5029200"/>
          </a:xfrm>
          <a:prstGeom prst="rect">
            <a:avLst/>
          </a:prstGeom>
          <a:solidFill>
            <a:srgbClr val="10192A"/>
          </a:solidFill>
          <a:ln w="12700">
            <a:solidFill>
              <a:srgbClr val="34415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14813280" y="4572000"/>
            <a:ext cx="13716000" cy="76809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14977872" y="4645152"/>
            <a:ext cx="13386816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7FAFD"/>
                </a:solidFill>
              </a:rPr>
              <a:t>METHOD OVERVIEW</a:t>
            </a:r>
            <a:endParaRPr lang="en-US" sz="2100" dirty="0"/>
          </a:p>
        </p:txBody>
      </p:sp>
      <p:sp>
        <p:nvSpPr>
          <p:cNvPr id="35" name="Text 32"/>
          <p:cNvSpPr/>
          <p:nvPr/>
        </p:nvSpPr>
        <p:spPr>
          <a:xfrm>
            <a:off x="15051024" y="5504688"/>
            <a:ext cx="13240512" cy="3986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D0D9E8"/>
                </a:solidFill>
              </a:rPr>
              <a:t>Production behavior combines four parts: inventory row textification, text normalization, retrieval ranking, and intent routing. Each SQLite row is converted into searchable text; terms are normalized; likely matches are scored; and a small Naive Bayes-style classifier decides whether the user wants search, categories, low-stock analysis, duplicate detection, total value, or a full listing.</a:t>
            </a:r>
            <a:endParaRPr lang="en-US" sz="1810" dirty="0"/>
          </a:p>
        </p:txBody>
      </p:sp>
      <p:sp>
        <p:nvSpPr>
          <p:cNvPr id="36" name="Shape 33"/>
          <p:cNvSpPr/>
          <p:nvPr/>
        </p:nvSpPr>
        <p:spPr>
          <a:xfrm>
            <a:off x="14813280" y="9921240"/>
            <a:ext cx="13716000" cy="6309360"/>
          </a:xfrm>
          <a:prstGeom prst="rect">
            <a:avLst/>
          </a:prstGeom>
          <a:solidFill>
            <a:srgbClr val="10192A"/>
          </a:solidFill>
          <a:ln w="12700">
            <a:solidFill>
              <a:srgbClr val="34415A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4813280" y="9921240"/>
            <a:ext cx="13716000" cy="768096"/>
          </a:xfrm>
          <a:prstGeom prst="rect">
            <a:avLst/>
          </a:prstGeom>
          <a:solidFill>
            <a:srgbClr val="25B7B2"/>
          </a:solidFill>
          <a:ln w="12700">
            <a:solidFill>
              <a:srgbClr val="25B7B2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14977872" y="9994392"/>
            <a:ext cx="13386816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7FAFD"/>
                </a:solidFill>
              </a:rPr>
              <a:t>SYSTEM PIPELINE</a:t>
            </a:r>
            <a:endParaRPr lang="en-US" sz="2100" dirty="0"/>
          </a:p>
        </p:txBody>
      </p:sp>
      <p:sp>
        <p:nvSpPr>
          <p:cNvPr id="39" name="Shape 36"/>
          <p:cNvSpPr/>
          <p:nvPr/>
        </p:nvSpPr>
        <p:spPr>
          <a:xfrm>
            <a:off x="17666208" y="12006072"/>
            <a:ext cx="310896" cy="438912"/>
          </a:xfrm>
          <a:prstGeom prst="chevron">
            <a:avLst/>
          </a:prstGeom>
          <a:solidFill>
            <a:srgbClr val="6E7C98"/>
          </a:solidFill>
          <a:ln w="12700">
            <a:solidFill>
              <a:srgbClr val="6E7C98"/>
            </a:solidFill>
            <a:prstDash val="solid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20135088" y="12006072"/>
            <a:ext cx="310896" cy="438912"/>
          </a:xfrm>
          <a:prstGeom prst="chevron">
            <a:avLst/>
          </a:prstGeom>
          <a:solidFill>
            <a:srgbClr val="6E7C98"/>
          </a:solidFill>
          <a:ln w="12700">
            <a:solidFill>
              <a:srgbClr val="6E7C98"/>
            </a:solidFill>
            <a:prstDash val="solid"/>
          </a:ln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22603968" y="12006072"/>
            <a:ext cx="310896" cy="438912"/>
          </a:xfrm>
          <a:prstGeom prst="chevron">
            <a:avLst/>
          </a:prstGeom>
          <a:solidFill>
            <a:srgbClr val="6E7C98"/>
          </a:solidFill>
          <a:ln w="12700">
            <a:solidFill>
              <a:srgbClr val="6E7C98"/>
            </a:solidFill>
            <a:prstDash val="solid"/>
          </a:ln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25072848" y="12006072"/>
            <a:ext cx="310896" cy="438912"/>
          </a:xfrm>
          <a:prstGeom prst="chevron">
            <a:avLst/>
          </a:prstGeom>
          <a:solidFill>
            <a:srgbClr val="6E7C98"/>
          </a:solidFill>
          <a:ln w="12700">
            <a:solidFill>
              <a:srgbClr val="6E7C98"/>
            </a:solidFill>
            <a:prstDash val="solid"/>
          </a:ln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15544800" y="11475720"/>
            <a:ext cx="1920240" cy="1554480"/>
          </a:xfrm>
          <a:prstGeom prst="rect">
            <a:avLst/>
          </a:prstGeom>
          <a:solidFill>
            <a:srgbClr val="0D1728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15636240" y="11731752"/>
            <a:ext cx="1737360" cy="1280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7FAFD"/>
                </a:solidFill>
              </a:rPr>
              <a:t>User</a:t>
            </a:r>
            <a:endParaRPr lang="en-US" sz="1620" dirty="0"/>
          </a:p>
          <a:p>
            <a:pPr algn="ctr" indent="0" marL="0">
              <a:buNone/>
            </a:pPr>
            <a:r>
              <a:rPr lang="en-US" sz="1620" b="1" dirty="0">
                <a:solidFill>
                  <a:srgbClr val="F7FAFD"/>
                </a:solidFill>
              </a:rPr>
              <a:t>question</a:t>
            </a:r>
            <a:endParaRPr lang="en-US" sz="1620" dirty="0"/>
          </a:p>
        </p:txBody>
      </p:sp>
      <p:sp>
        <p:nvSpPr>
          <p:cNvPr id="45" name="Shape 42"/>
          <p:cNvSpPr/>
          <p:nvPr/>
        </p:nvSpPr>
        <p:spPr>
          <a:xfrm>
            <a:off x="18013680" y="11475720"/>
            <a:ext cx="1920240" cy="1554480"/>
          </a:xfrm>
          <a:prstGeom prst="rect">
            <a:avLst/>
          </a:prstGeom>
          <a:solidFill>
            <a:srgbClr val="0D1728"/>
          </a:solidFill>
          <a:ln w="12700">
            <a:solidFill>
              <a:srgbClr val="6C63FF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18105120" y="11731752"/>
            <a:ext cx="1737360" cy="1280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7FAFD"/>
                </a:solidFill>
              </a:rPr>
              <a:t>Intent</a:t>
            </a:r>
            <a:endParaRPr lang="en-US" sz="1620" dirty="0"/>
          </a:p>
          <a:p>
            <a:pPr algn="ctr" indent="0" marL="0">
              <a:buNone/>
            </a:pPr>
            <a:r>
              <a:rPr lang="en-US" sz="1620" b="1" dirty="0">
                <a:solidFill>
                  <a:srgbClr val="F7FAFD"/>
                </a:solidFill>
              </a:rPr>
              <a:t>classifier</a:t>
            </a:r>
            <a:endParaRPr lang="en-US" sz="1620" dirty="0"/>
          </a:p>
        </p:txBody>
      </p:sp>
      <p:sp>
        <p:nvSpPr>
          <p:cNvPr id="47" name="Shape 44"/>
          <p:cNvSpPr/>
          <p:nvPr/>
        </p:nvSpPr>
        <p:spPr>
          <a:xfrm>
            <a:off x="20482560" y="11475720"/>
            <a:ext cx="1920240" cy="1554480"/>
          </a:xfrm>
          <a:prstGeom prst="rect">
            <a:avLst/>
          </a:prstGeom>
          <a:solidFill>
            <a:srgbClr val="0D1728"/>
          </a:solidFill>
          <a:ln w="12700">
            <a:solidFill>
              <a:srgbClr val="25B7B2"/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20574000" y="11731752"/>
            <a:ext cx="1737360" cy="1280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7FAFD"/>
                </a:solidFill>
              </a:rPr>
              <a:t>Query</a:t>
            </a:r>
            <a:endParaRPr lang="en-US" sz="1620" dirty="0"/>
          </a:p>
          <a:p>
            <a:pPr algn="ctr" indent="0" marL="0">
              <a:buNone/>
            </a:pPr>
            <a:r>
              <a:rPr lang="en-US" sz="1620" b="1" dirty="0">
                <a:solidFill>
                  <a:srgbClr val="F7FAFD"/>
                </a:solidFill>
              </a:rPr>
              <a:t>routing</a:t>
            </a:r>
            <a:endParaRPr lang="en-US" sz="1620" dirty="0"/>
          </a:p>
        </p:txBody>
      </p:sp>
      <p:sp>
        <p:nvSpPr>
          <p:cNvPr id="49" name="Shape 46"/>
          <p:cNvSpPr/>
          <p:nvPr/>
        </p:nvSpPr>
        <p:spPr>
          <a:xfrm>
            <a:off x="22951440" y="11475720"/>
            <a:ext cx="1920240" cy="1554480"/>
          </a:xfrm>
          <a:prstGeom prst="rect">
            <a:avLst/>
          </a:prstGeom>
          <a:solidFill>
            <a:srgbClr val="0D1728"/>
          </a:solidFill>
          <a:ln w="1270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23042880" y="11731752"/>
            <a:ext cx="1737360" cy="1280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7FAFD"/>
                </a:solidFill>
              </a:rPr>
              <a:t>SQLite</a:t>
            </a:r>
            <a:endParaRPr lang="en-US" sz="1620" dirty="0"/>
          </a:p>
          <a:p>
            <a:pPr algn="ctr" indent="0" marL="0">
              <a:buNone/>
            </a:pPr>
            <a:r>
              <a:rPr lang="en-US" sz="1620" b="1" dirty="0">
                <a:solidFill>
                  <a:srgbClr val="F7FAFD"/>
                </a:solidFill>
              </a:rPr>
              <a:t>retrieval</a:t>
            </a:r>
            <a:endParaRPr lang="en-US" sz="1620" dirty="0"/>
          </a:p>
        </p:txBody>
      </p:sp>
      <p:sp>
        <p:nvSpPr>
          <p:cNvPr id="51" name="Shape 48"/>
          <p:cNvSpPr/>
          <p:nvPr/>
        </p:nvSpPr>
        <p:spPr>
          <a:xfrm>
            <a:off x="25420320" y="11475720"/>
            <a:ext cx="1920240" cy="1554480"/>
          </a:xfrm>
          <a:prstGeom prst="rect">
            <a:avLst/>
          </a:prstGeom>
          <a:solidFill>
            <a:srgbClr val="0D1728"/>
          </a:solidFill>
          <a:ln w="12700">
            <a:solidFill>
              <a:srgbClr val="E15759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25511760" y="11731752"/>
            <a:ext cx="1737360" cy="1280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7FAFD"/>
                </a:solidFill>
              </a:rPr>
              <a:t>Grounded</a:t>
            </a:r>
            <a:endParaRPr lang="en-US" sz="1620" dirty="0"/>
          </a:p>
          <a:p>
            <a:pPr algn="ctr" indent="0" marL="0">
              <a:buNone/>
            </a:pPr>
            <a:r>
              <a:rPr lang="en-US" sz="1620" b="1" dirty="0">
                <a:solidFill>
                  <a:srgbClr val="F7FAFD"/>
                </a:solidFill>
              </a:rPr>
              <a:t>answer</a:t>
            </a:r>
            <a:endParaRPr lang="en-US" sz="1620" dirty="0"/>
          </a:p>
        </p:txBody>
      </p:sp>
      <p:sp>
        <p:nvSpPr>
          <p:cNvPr id="53" name="Text 50"/>
          <p:cNvSpPr/>
          <p:nvPr/>
        </p:nvSpPr>
        <p:spPr>
          <a:xfrm>
            <a:off x="15069312" y="13670280"/>
            <a:ext cx="13203936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60" dirty="0">
                <a:solidFill>
                  <a:srgbClr val="D0D9E8"/>
                </a:solidFill>
              </a:rPr>
              <a:t>Evidence rows and diagnostics are shown back to the user, which keeps the system explainable and reduces hallucination risk. Optional decoder-lab files demonstrate concepts such as greedy decoding, top-k, top-p, beam search, repetition penalty, and KV-cache ideas for class discussion.</a:t>
            </a:r>
            <a:endParaRPr lang="en-US" sz="1660" dirty="0"/>
          </a:p>
        </p:txBody>
      </p:sp>
      <p:sp>
        <p:nvSpPr>
          <p:cNvPr id="54" name="Shape 51"/>
          <p:cNvSpPr/>
          <p:nvPr/>
        </p:nvSpPr>
        <p:spPr>
          <a:xfrm>
            <a:off x="14813280" y="16550640"/>
            <a:ext cx="13716000" cy="8001000"/>
          </a:xfrm>
          <a:prstGeom prst="rect">
            <a:avLst/>
          </a:prstGeom>
          <a:solidFill>
            <a:srgbClr val="10192A"/>
          </a:solidFill>
          <a:ln w="12700">
            <a:solidFill>
              <a:srgbClr val="34415A"/>
            </a:solidFill>
            <a:prstDash val="solid"/>
          </a:ln>
        </p:spPr>
        <p:txBody>
          <a:bodyPr/>
          <a:p/>
        </p:txBody>
      </p:sp>
      <p:sp>
        <p:nvSpPr>
          <p:cNvPr id="55" name="Shape 52"/>
          <p:cNvSpPr/>
          <p:nvPr/>
        </p:nvSpPr>
        <p:spPr>
          <a:xfrm>
            <a:off x="14813280" y="16550640"/>
            <a:ext cx="13716000" cy="768096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p/>
        </p:txBody>
      </p:sp>
      <p:sp>
        <p:nvSpPr>
          <p:cNvPr id="56" name="Text 53"/>
          <p:cNvSpPr/>
          <p:nvPr/>
        </p:nvSpPr>
        <p:spPr>
          <a:xfrm>
            <a:off x="14977872" y="16623792"/>
            <a:ext cx="13386816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7FAFD"/>
                </a:solidFill>
              </a:rPr>
              <a:t>AI INTERFACE OVERVIEW</a:t>
            </a:r>
            <a:endParaRPr lang="en-US" sz="2100" dirty="0"/>
          </a:p>
        </p:txBody>
      </p:sp>
      <p:pic>
        <p:nvPicPr>
          <p:cNvPr id="57" name="Image 1" descr="/mnt/data/ai_assistant_overvi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0971" y="17446752"/>
            <a:ext cx="10380617" cy="6812280"/>
          </a:xfrm>
          <a:prstGeom prst="rect">
            <a:avLst/>
          </a:prstGeom>
        </p:spPr>
      </p:pic>
      <p:sp>
        <p:nvSpPr>
          <p:cNvPr id="58" name="Shape 54"/>
          <p:cNvSpPr/>
          <p:nvPr/>
        </p:nvSpPr>
        <p:spPr>
          <a:xfrm>
            <a:off x="14813280" y="24871680"/>
            <a:ext cx="13716000" cy="5897880"/>
          </a:xfrm>
          <a:prstGeom prst="rect">
            <a:avLst/>
          </a:prstGeom>
          <a:solidFill>
            <a:srgbClr val="10192A"/>
          </a:solidFill>
          <a:ln w="12700">
            <a:solidFill>
              <a:srgbClr val="34415A"/>
            </a:solidFill>
            <a:prstDash val="solid"/>
          </a:ln>
        </p:spPr>
        <p:txBody>
          <a:bodyPr/>
          <a:p/>
        </p:txBody>
      </p:sp>
      <p:sp>
        <p:nvSpPr>
          <p:cNvPr id="59" name="Shape 55"/>
          <p:cNvSpPr/>
          <p:nvPr/>
        </p:nvSpPr>
        <p:spPr>
          <a:xfrm>
            <a:off x="14813280" y="24871680"/>
            <a:ext cx="13716000" cy="76809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60" name="Text 56"/>
          <p:cNvSpPr/>
          <p:nvPr/>
        </p:nvSpPr>
        <p:spPr>
          <a:xfrm>
            <a:off x="14977872" y="24944832"/>
            <a:ext cx="13386816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7FAFD"/>
                </a:solidFill>
              </a:rPr>
              <a:t>WHY PRIVATE / LIGHTWEIGHT AI</a:t>
            </a:r>
            <a:endParaRPr lang="en-US" sz="2100" dirty="0"/>
          </a:p>
        </p:txBody>
      </p:sp>
      <p:sp>
        <p:nvSpPr>
          <p:cNvPr id="61" name="Text 57"/>
          <p:cNvSpPr/>
          <p:nvPr/>
        </p:nvSpPr>
        <p:spPr>
          <a:xfrm>
            <a:off x="15051024" y="25804368"/>
            <a:ext cx="13240512" cy="4855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D0D9E8"/>
                </a:solidFill>
              </a:rPr>
              <a:t>The deployment intentionally avoids loading a full PyTorch stack in production. That cuts memory use, cold-start time, and failure risk on a small hosted service. The result is a systems-oriented AI design: use the simplest architecture that solves the real task reliably, then keep heavier model experiments offline where they are safer and easier to control.</a:t>
            </a:r>
            <a:endParaRPr lang="en-US" sz="1810" dirty="0"/>
          </a:p>
        </p:txBody>
      </p:sp>
      <p:sp>
        <p:nvSpPr>
          <p:cNvPr id="62" name="Shape 58"/>
          <p:cNvSpPr/>
          <p:nvPr/>
        </p:nvSpPr>
        <p:spPr>
          <a:xfrm>
            <a:off x="28712160" y="4572000"/>
            <a:ext cx="13716000" cy="7818120"/>
          </a:xfrm>
          <a:prstGeom prst="rect">
            <a:avLst/>
          </a:prstGeom>
          <a:solidFill>
            <a:srgbClr val="10192A"/>
          </a:solidFill>
          <a:ln w="12700">
            <a:solidFill>
              <a:srgbClr val="34415A"/>
            </a:solidFill>
            <a:prstDash val="solid"/>
          </a:ln>
        </p:spPr>
        <p:txBody>
          <a:bodyPr/>
          <a:p/>
        </p:txBody>
      </p:sp>
      <p:sp>
        <p:nvSpPr>
          <p:cNvPr id="63" name="Shape 59"/>
          <p:cNvSpPr/>
          <p:nvPr/>
        </p:nvSpPr>
        <p:spPr>
          <a:xfrm>
            <a:off x="28712160" y="4572000"/>
            <a:ext cx="13716000" cy="76809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64" name="Text 60"/>
          <p:cNvSpPr/>
          <p:nvPr/>
        </p:nvSpPr>
        <p:spPr>
          <a:xfrm>
            <a:off x="28876752" y="4645152"/>
            <a:ext cx="13386816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7FAFD"/>
                </a:solidFill>
              </a:rPr>
              <a:t>GROUNDED QUERY EXAMPLE</a:t>
            </a:r>
            <a:endParaRPr lang="en-US" sz="2100" dirty="0"/>
          </a:p>
        </p:txBody>
      </p:sp>
      <p:pic>
        <p:nvPicPr>
          <p:cNvPr id="65" name="Image 2" descr="/mnt/data/qualitative_multi_item_quer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3754" y="5440680"/>
            <a:ext cx="6912812" cy="6126480"/>
          </a:xfrm>
          <a:prstGeom prst="rect">
            <a:avLst/>
          </a:prstGeom>
        </p:spPr>
      </p:pic>
      <p:sp>
        <p:nvSpPr>
          <p:cNvPr id="66" name="Text 61"/>
          <p:cNvSpPr/>
          <p:nvPr/>
        </p:nvSpPr>
        <p:spPr>
          <a:xfrm>
            <a:off x="28931616" y="11722608"/>
            <a:ext cx="13277088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D0D9E8"/>
                </a:solidFill>
              </a:rPr>
              <a:t>Example shown: the query “do we have paper and resistors?” retrieves matching resistor and office-supply rows with confidence displayed in the interface. This demonstrates multi-item search grounded in actual records rather than open-ended generation.</a:t>
            </a:r>
            <a:endParaRPr lang="en-US" sz="1540" dirty="0"/>
          </a:p>
        </p:txBody>
      </p:sp>
      <p:sp>
        <p:nvSpPr>
          <p:cNvPr id="67" name="Shape 62"/>
          <p:cNvSpPr/>
          <p:nvPr/>
        </p:nvSpPr>
        <p:spPr>
          <a:xfrm>
            <a:off x="28712160" y="12710160"/>
            <a:ext cx="13716000" cy="8321040"/>
          </a:xfrm>
          <a:prstGeom prst="rect">
            <a:avLst/>
          </a:prstGeom>
          <a:solidFill>
            <a:srgbClr val="10192A"/>
          </a:solidFill>
          <a:ln w="12700">
            <a:solidFill>
              <a:srgbClr val="34415A"/>
            </a:solidFill>
            <a:prstDash val="solid"/>
          </a:ln>
        </p:spPr>
        <p:txBody>
          <a:bodyPr/>
          <a:p/>
        </p:txBody>
      </p:sp>
      <p:sp>
        <p:nvSpPr>
          <p:cNvPr id="68" name="Shape 63"/>
          <p:cNvSpPr/>
          <p:nvPr/>
        </p:nvSpPr>
        <p:spPr>
          <a:xfrm>
            <a:off x="28712160" y="12710160"/>
            <a:ext cx="13716000" cy="768096"/>
          </a:xfrm>
          <a:prstGeom prst="rect">
            <a:avLst/>
          </a:prstGeom>
          <a:solidFill>
            <a:srgbClr val="25B7B2"/>
          </a:solidFill>
          <a:ln w="12700">
            <a:solidFill>
              <a:srgbClr val="25B7B2"/>
            </a:solidFill>
            <a:prstDash val="solid"/>
          </a:ln>
        </p:spPr>
        <p:txBody>
          <a:bodyPr/>
          <a:p/>
        </p:txBody>
      </p:sp>
      <p:sp>
        <p:nvSpPr>
          <p:cNvPr id="69" name="Text 64"/>
          <p:cNvSpPr/>
          <p:nvPr/>
        </p:nvSpPr>
        <p:spPr>
          <a:xfrm>
            <a:off x="28876752" y="12783312"/>
            <a:ext cx="13386816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7FAFD"/>
                </a:solidFill>
              </a:rPr>
              <a:t>DEPLOYMENT EVIDENCE</a:t>
            </a:r>
            <a:endParaRPr lang="en-US" sz="2100" dirty="0"/>
          </a:p>
        </p:txBody>
      </p:sp>
      <p:pic>
        <p:nvPicPr>
          <p:cNvPr id="70" name="Image 3" descr="/mnt/data/railway_metrics_full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6353" y="13578840"/>
            <a:ext cx="6487613" cy="7132320"/>
          </a:xfrm>
          <a:prstGeom prst="rect">
            <a:avLst/>
          </a:prstGeom>
        </p:spPr>
      </p:pic>
      <p:sp>
        <p:nvSpPr>
          <p:cNvPr id="71" name="Shape 65"/>
          <p:cNvSpPr/>
          <p:nvPr/>
        </p:nvSpPr>
        <p:spPr>
          <a:xfrm>
            <a:off x="28712160" y="21351240"/>
            <a:ext cx="13716000" cy="5303520"/>
          </a:xfrm>
          <a:prstGeom prst="rect">
            <a:avLst/>
          </a:prstGeom>
          <a:solidFill>
            <a:srgbClr val="10192A"/>
          </a:solidFill>
          <a:ln w="12700">
            <a:solidFill>
              <a:srgbClr val="34415A"/>
            </a:solidFill>
            <a:prstDash val="solid"/>
          </a:ln>
        </p:spPr>
        <p:txBody>
          <a:bodyPr/>
          <a:p/>
        </p:txBody>
      </p:sp>
      <p:sp>
        <p:nvSpPr>
          <p:cNvPr id="72" name="Shape 66"/>
          <p:cNvSpPr/>
          <p:nvPr/>
        </p:nvSpPr>
        <p:spPr>
          <a:xfrm>
            <a:off x="28712160" y="21351240"/>
            <a:ext cx="13716000" cy="768096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p/>
        </p:txBody>
      </p:sp>
      <p:sp>
        <p:nvSpPr>
          <p:cNvPr id="73" name="Text 67"/>
          <p:cNvSpPr/>
          <p:nvPr/>
        </p:nvSpPr>
        <p:spPr>
          <a:xfrm>
            <a:off x="28876752" y="21424392"/>
            <a:ext cx="13386816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7FAFD"/>
                </a:solidFill>
              </a:rPr>
              <a:t>IMPACT &amp; FUTURE WORK</a:t>
            </a:r>
            <a:endParaRPr lang="en-US" sz="2100" dirty="0"/>
          </a:p>
        </p:txBody>
      </p:sp>
      <p:sp>
        <p:nvSpPr>
          <p:cNvPr id="74" name="Text 68"/>
          <p:cNvSpPr/>
          <p:nvPr/>
        </p:nvSpPr>
        <p:spPr>
          <a:xfrm>
            <a:off x="28949904" y="22283928"/>
            <a:ext cx="13240512" cy="4261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D0D9E8"/>
                </a:solidFill>
              </a:rPr>
              <a:t>This project shows that small, grounded AI can be genuinely useful in a practical workflow. Future improvements could include stronger synonym handling, semantic embeddings, OCR for labels, richer duplicate grouping, and multi-user collaboration with role-based permissions.</a:t>
            </a:r>
            <a:endParaRPr lang="en-US" sz="1810" dirty="0"/>
          </a:p>
        </p:txBody>
      </p:sp>
      <p:sp>
        <p:nvSpPr>
          <p:cNvPr id="75" name="Shape 69"/>
          <p:cNvSpPr/>
          <p:nvPr/>
        </p:nvSpPr>
        <p:spPr>
          <a:xfrm>
            <a:off x="28712160" y="26974800"/>
            <a:ext cx="13716000" cy="3794760"/>
          </a:xfrm>
          <a:prstGeom prst="rect">
            <a:avLst/>
          </a:prstGeom>
          <a:solidFill>
            <a:srgbClr val="10192A"/>
          </a:solidFill>
          <a:ln w="12700">
            <a:solidFill>
              <a:srgbClr val="34415A"/>
            </a:solidFill>
            <a:prstDash val="solid"/>
          </a:ln>
        </p:spPr>
        <p:txBody>
          <a:bodyPr/>
          <a:p/>
        </p:txBody>
      </p:sp>
      <p:sp>
        <p:nvSpPr>
          <p:cNvPr id="76" name="Shape 70"/>
          <p:cNvSpPr/>
          <p:nvPr/>
        </p:nvSpPr>
        <p:spPr>
          <a:xfrm>
            <a:off x="28712160" y="26974800"/>
            <a:ext cx="13716000" cy="71323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77" name="Text 71"/>
          <p:cNvSpPr/>
          <p:nvPr/>
        </p:nvSpPr>
        <p:spPr>
          <a:xfrm>
            <a:off x="28876752" y="27047952"/>
            <a:ext cx="13386816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7FAFD"/>
                </a:solidFill>
              </a:rPr>
              <a:t>REFERENCES</a:t>
            </a:r>
            <a:endParaRPr lang="en-US" sz="2100" dirty="0"/>
          </a:p>
        </p:txBody>
      </p:sp>
      <p:sp>
        <p:nvSpPr>
          <p:cNvPr id="78" name="Text 72"/>
          <p:cNvSpPr/>
          <p:nvPr/>
        </p:nvSpPr>
        <p:spPr>
          <a:xfrm>
            <a:off x="28940760" y="27889200"/>
            <a:ext cx="1335024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 sz="1900">
                <a:solidFill>
                  <a:srgbClr val="D2DCEC"/>
                </a:solidFill>
                <a:latin typeface="Arial"/>
              </a:defRPr>
            </a:pPr>
            <a:r>
              <a:rPr lang="en-US" sz="1810" dirty="0">
                <a:solidFill>
                  <a:srgbClr val="D0D9E8"/>
                </a:solidFill>
              </a:rPr>
              <a:t>Lewis et al., Retrieval-Augmented Generation (2020)</a:t>
            </a:r>
            <a:endParaRPr lang="en-US" sz="1810" dirty="0"/>
          </a:p>
          <a:p>
            <a:pPr indent="0" marL="0">
              <a:buNone/>
              <a:defRPr sz="1900">
                <a:solidFill>
                  <a:srgbClr val="D2DCEC"/>
                </a:solidFill>
                <a:latin typeface="Arial"/>
              </a:defRPr>
            </a:pPr>
            <a:r>
              <a:rPr lang="en-US" sz="1810" dirty="0">
                <a:solidFill>
                  <a:srgbClr val="D0D9E8"/>
                </a:solidFill>
              </a:rPr>
              <a:t>Manning, Raghavan, and Schütze, Introduction to Information Retrieval (2008)</a:t>
            </a:r>
            <a:endParaRPr lang="en-US" sz="1810" dirty="0"/>
          </a:p>
          <a:p>
            <a:pPr indent="0" marL="0">
              <a:buNone/>
              <a:defRPr sz="1900">
                <a:solidFill>
                  <a:srgbClr val="D2DCEC"/>
                </a:solidFill>
                <a:latin typeface="Arial"/>
              </a:defRPr>
            </a:pPr>
            <a:r>
              <a:rPr lang="en-US" sz="1810" dirty="0">
                <a:solidFill>
                  <a:srgbClr val="D0D9E8"/>
                </a:solidFill>
              </a:rPr>
              <a:t>McCallum and Nigam, Naive Bayes Text Classification (1998)</a:t>
            </a:r>
            <a:endParaRPr lang="en-US" sz="1810" dirty="0"/>
          </a:p>
          <a:p>
            <a:pPr indent="0" marL="0">
              <a:buNone/>
              <a:defRPr sz="1900">
                <a:solidFill>
                  <a:srgbClr val="D2DCEC"/>
                </a:solidFill>
                <a:latin typeface="Arial"/>
              </a:defRPr>
            </a:pPr>
            <a:r>
              <a:rPr lang="en-US" sz="1810" dirty="0">
                <a:solidFill>
                  <a:srgbClr val="D0D9E8"/>
                </a:solidFill>
              </a:rPr>
              <a:t>FastAPI documentation</a:t>
            </a:r>
            <a:endParaRPr lang="en-US" sz="1810" dirty="0"/>
          </a:p>
          <a:p>
            <a:pPr indent="0" marL="0">
              <a:buNone/>
              <a:defRPr sz="1900">
                <a:solidFill>
                  <a:srgbClr val="D2DCEC"/>
                </a:solidFill>
                <a:latin typeface="Arial"/>
              </a:defRPr>
            </a:pPr>
            <a:r>
              <a:rPr lang="en-US" sz="1810" dirty="0">
                <a:solidFill>
                  <a:srgbClr val="D0D9E8"/>
                </a:solidFill>
              </a:rPr>
              <a:t>SQLite documentation</a:t>
            </a:r>
            <a:endParaRPr lang="en-US" sz="1810" dirty="0"/>
          </a:p>
          <a:p>
            <a:pPr indent="0" marL="0">
              <a:buNone/>
              <a:defRPr sz="1900">
                <a:solidFill>
                  <a:srgbClr val="D2DCEC"/>
                </a:solidFill>
                <a:latin typeface="Arial"/>
              </a:defRPr>
            </a:pPr>
            <a:r>
              <a:rPr lang="en-US" sz="1810" dirty="0">
                <a:solidFill>
                  <a:srgbClr val="D0D9E8"/>
                </a:solidFill>
              </a:rPr>
              <a:t>Railway deployment documentation</a:t>
            </a:r>
            <a:endParaRPr lang="en-US" sz="1810" dirty="0"/>
          </a:p>
        </p:txBody>
      </p:sp>
      <p:sp>
        <p:nvSpPr>
          <p:cNvPr id="79" name="Rectangle 78"/>
          <p:cNvSpPr/>
          <p:nvPr/>
        </p:nvSpPr>
        <p:spPr>
          <a:xfrm>
            <a:off x="32918400" y="502920"/>
            <a:ext cx="9784080" cy="2880360"/>
          </a:xfrm>
          <a:prstGeom prst="rect">
            <a:avLst/>
          </a:prstGeom>
          <a:solidFill>
            <a:srgbClr val="0E1727"/>
          </a:solidFill>
          <a:ln w="15240">
            <a:solidFill>
              <a:srgbClr val="405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2918400" y="3264408"/>
            <a:ext cx="9784080" cy="118872"/>
          </a:xfrm>
          <a:prstGeom prst="rect">
            <a:avLst/>
          </a:prstGeom>
          <a:solidFill>
            <a:srgbClr val="F88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0142160" y="795528"/>
            <a:ext cx="2240280" cy="224028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github_inventory_q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33600" y="886968"/>
            <a:ext cx="2057400" cy="205740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3357312" y="868680"/>
            <a:ext cx="6583680" cy="2148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Arial"/>
              </a:rPr>
              <a:t>SCAN THE PROJECT REPOSITORY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DD6E6"/>
                </a:solidFill>
                <a:latin typeface="Arial"/>
              </a:rPr>
              <a:t>Source code, documentation, UI screenshots, and deployment notes.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F8841F"/>
                </a:solidFill>
                <a:latin typeface="Arial"/>
              </a:rPr>
              <a:t>github.com/jentimanatol/electronics_inventory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8940760" y="30220919"/>
            <a:ext cx="1335024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400" i="1">
                <a:solidFill>
                  <a:srgbClr val="A1B0C8"/>
                </a:solidFill>
                <a:latin typeface="Arial"/>
              </a:rPr>
              <a:t>Project repository is available through the QR code in the header.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Inventory AI Assistant</dc:title>
  <dc:subject>Poster</dc:subject>
  <dc:creator>OpenAI</dc:creator>
  <cp:lastModifiedBy>OpenAI</cp:lastModifiedBy>
  <cp:revision>1</cp:revision>
  <dcterms:created xsi:type="dcterms:W3CDTF">2026-05-08T19:18:34Z</dcterms:created>
  <dcterms:modified xsi:type="dcterms:W3CDTF">2026-05-08T19:18:34Z</dcterms:modified>
</cp:coreProperties>
</file>